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21599525" cy="32399288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68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BDBDB"/>
    <a:srgbClr val="C81D5D"/>
    <a:srgbClr val="C61A3D"/>
    <a:srgbClr val="E6A72F"/>
    <a:srgbClr val="B01C34"/>
    <a:srgbClr val="B72878"/>
    <a:srgbClr val="D11945"/>
    <a:srgbClr val="B11A35"/>
    <a:srgbClr val="B21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75" autoAdjust="0"/>
    <p:restoredTop sz="86400"/>
  </p:normalViewPr>
  <p:slideViewPr>
    <p:cSldViewPr snapToGrid="0" showGuides="1">
      <p:cViewPr varScale="1">
        <p:scale>
          <a:sx n="40" d="100"/>
          <a:sy n="40" d="100"/>
        </p:scale>
        <p:origin x="4872" y="352"/>
      </p:cViewPr>
      <p:guideLst>
        <p:guide orient="horz" pos="10204"/>
        <p:guide pos="6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0" d="100"/>
          <a:sy n="150" d="100"/>
        </p:scale>
        <p:origin x="6656" y="1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01358" y="1279525"/>
            <a:ext cx="230293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F1D35-2C46-D268-D328-E095547A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21AFC8-A4F6-3D8D-2D15-F74650191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01888" y="1279525"/>
            <a:ext cx="2301875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2951FC-615C-52D4-BAA5-25903E801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65BE73-2712-08C9-0B90-D107AD3CF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84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401888" y="1279525"/>
            <a:ext cx="2301875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00000" y="6250215"/>
            <a:ext cx="16199999" cy="10332289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14175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00000" y="17017503"/>
            <a:ext cx="16199999" cy="7822498"/>
          </a:xfrm>
        </p:spPr>
        <p:txBody>
          <a:bodyPr>
            <a:normAutofit/>
          </a:bodyPr>
          <a:lstStyle>
            <a:lvl1pPr marL="0" indent="0" algn="ctr">
              <a:buNone/>
              <a:defRPr sz="567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1080135" indent="0" algn="ctr">
              <a:buNone/>
              <a:defRPr sz="4725"/>
            </a:lvl2pPr>
            <a:lvl3pPr marL="2160270" indent="0" algn="ctr">
              <a:buNone/>
              <a:defRPr sz="4250"/>
            </a:lvl3pPr>
            <a:lvl4pPr marL="3239770" indent="0" algn="ctr">
              <a:buNone/>
              <a:defRPr sz="3780"/>
            </a:lvl4pPr>
            <a:lvl5pPr marL="4319905" indent="0" algn="ctr">
              <a:buNone/>
              <a:defRPr sz="3780"/>
            </a:lvl5pPr>
            <a:lvl6pPr marL="5400040" indent="0" algn="ctr">
              <a:buNone/>
              <a:defRPr sz="3780"/>
            </a:lvl6pPr>
            <a:lvl7pPr marL="6480175" indent="0" algn="ctr">
              <a:buNone/>
              <a:defRPr sz="3780"/>
            </a:lvl7pPr>
            <a:lvl8pPr marL="7560310" indent="0" algn="ctr">
              <a:buNone/>
              <a:defRPr sz="3780"/>
            </a:lvl8pPr>
            <a:lvl9pPr marL="8639810" indent="0" algn="ctr">
              <a:buNone/>
              <a:defRPr sz="378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00" y="1221000"/>
            <a:ext cx="18629999" cy="6262503"/>
          </a:xfrm>
        </p:spPr>
        <p:txBody>
          <a:bodyPr anchor="ctr" anchorCtr="0">
            <a:normAutofit/>
          </a:bodyPr>
          <a:lstStyle>
            <a:lvl1pPr>
              <a:defRPr sz="1039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47500" y="8625000"/>
            <a:ext cx="18629999" cy="20557504"/>
          </a:xfrm>
        </p:spPr>
        <p:txBody>
          <a:bodyPr>
            <a:normAutofit/>
          </a:bodyPr>
          <a:lstStyle>
            <a:lvl1pPr>
              <a:defRPr sz="661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567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47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42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42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3748" y="2216348"/>
            <a:ext cx="18262074" cy="19338648"/>
          </a:xfrm>
        </p:spPr>
        <p:txBody>
          <a:bodyPr anchor="b">
            <a:normAutofit/>
          </a:bodyPr>
          <a:lstStyle>
            <a:lvl1pPr>
              <a:defRPr sz="14175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73750" y="21779661"/>
            <a:ext cx="18262073" cy="3059315"/>
          </a:xfrm>
        </p:spPr>
        <p:txBody>
          <a:bodyPr>
            <a:normAutofit/>
          </a:bodyPr>
          <a:lstStyle>
            <a:lvl1pPr marL="0" indent="0">
              <a:buNone/>
              <a:defRPr sz="5670">
                <a:solidFill>
                  <a:schemeClr val="tx1"/>
                </a:solidFill>
              </a:defRPr>
            </a:lvl1pPr>
            <a:lvl2pPr marL="1080135" indent="0">
              <a:buNone/>
              <a:defRPr sz="4725">
                <a:solidFill>
                  <a:schemeClr val="tx1">
                    <a:tint val="75000"/>
                  </a:schemeClr>
                </a:solidFill>
              </a:defRPr>
            </a:lvl2pPr>
            <a:lvl3pPr marL="2160270" indent="0">
              <a:buNone/>
              <a:defRPr sz="4250">
                <a:solidFill>
                  <a:schemeClr val="tx1">
                    <a:tint val="75000"/>
                  </a:schemeClr>
                </a:solidFill>
              </a:defRPr>
            </a:lvl3pPr>
            <a:lvl4pPr marL="323977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0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40004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8017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603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81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7500" y="1221000"/>
            <a:ext cx="18629999" cy="6262503"/>
          </a:xfrm>
        </p:spPr>
        <p:txBody>
          <a:bodyPr>
            <a:normAutofit/>
          </a:bodyPr>
          <a:lstStyle>
            <a:lvl1pPr>
              <a:defRPr sz="10395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47500" y="8625000"/>
            <a:ext cx="9179999" cy="205575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661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567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47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42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42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597499" y="8625000"/>
            <a:ext cx="9179999" cy="205575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661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567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472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425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425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7813" y="1725000"/>
            <a:ext cx="18629999" cy="626250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87813" y="8243911"/>
            <a:ext cx="9137811" cy="3892498"/>
          </a:xfrm>
        </p:spPr>
        <p:txBody>
          <a:bodyPr anchor="b">
            <a:normAutofit/>
          </a:bodyPr>
          <a:lstStyle>
            <a:lvl1pPr marL="0" indent="0">
              <a:buNone/>
              <a:defRPr sz="6615" b="0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60310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487813" y="12357209"/>
            <a:ext cx="9137811" cy="168852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0934999" y="8243911"/>
            <a:ext cx="9182813" cy="3892498"/>
          </a:xfrm>
        </p:spPr>
        <p:txBody>
          <a:bodyPr anchor="b">
            <a:normAutofit/>
          </a:bodyPr>
          <a:lstStyle>
            <a:lvl1pPr marL="0" indent="0">
              <a:buNone/>
              <a:defRPr sz="6615" b="0"/>
            </a:lvl1pPr>
            <a:lvl2pPr marL="1080135" indent="0">
              <a:buNone/>
              <a:defRPr sz="4725" b="1"/>
            </a:lvl2pPr>
            <a:lvl3pPr marL="2160270" indent="0">
              <a:buNone/>
              <a:defRPr sz="4250" b="1"/>
            </a:lvl3pPr>
            <a:lvl4pPr marL="3239770" indent="0">
              <a:buNone/>
              <a:defRPr sz="3780" b="1"/>
            </a:lvl4pPr>
            <a:lvl5pPr marL="4319905" indent="0">
              <a:buNone/>
              <a:defRPr sz="3780" b="1"/>
            </a:lvl5pPr>
            <a:lvl6pPr marL="5400040" indent="0">
              <a:buNone/>
              <a:defRPr sz="3780" b="1"/>
            </a:lvl6pPr>
            <a:lvl7pPr marL="6480175" indent="0">
              <a:buNone/>
              <a:defRPr sz="3780" b="1"/>
            </a:lvl7pPr>
            <a:lvl8pPr marL="7560310" indent="0">
              <a:buNone/>
              <a:defRPr sz="3780" b="1"/>
            </a:lvl8pPr>
            <a:lvl9pPr marL="8639810" indent="0">
              <a:buNone/>
              <a:defRPr sz="378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0934999" y="12357209"/>
            <a:ext cx="9182813" cy="1688529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5000" y="13068752"/>
            <a:ext cx="18629999" cy="6262503"/>
          </a:xfrm>
        </p:spPr>
        <p:txBody>
          <a:bodyPr>
            <a:normAutofit/>
          </a:bodyPr>
          <a:lstStyle>
            <a:lvl1pPr algn="ctr">
              <a:defRPr sz="10395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45812" y="600000"/>
            <a:ext cx="7379291" cy="7560000"/>
          </a:xfrm>
        </p:spPr>
        <p:txBody>
          <a:bodyPr anchor="ctr" anchorCtr="0">
            <a:normAutofit/>
          </a:bodyPr>
          <a:lstStyle>
            <a:lvl1pPr>
              <a:defRPr sz="756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9184251" y="3620570"/>
            <a:ext cx="10306372" cy="24068250"/>
          </a:xfrm>
        </p:spPr>
        <p:txBody>
          <a:bodyPr/>
          <a:lstStyle>
            <a:lvl1pPr marL="0" indent="0">
              <a:buNone/>
              <a:defRPr sz="7560"/>
            </a:lvl1pPr>
            <a:lvl2pPr marL="1080135" indent="0">
              <a:buNone/>
              <a:defRPr sz="6615"/>
            </a:lvl2pPr>
            <a:lvl3pPr marL="2160270" indent="0">
              <a:buNone/>
              <a:defRPr sz="5670"/>
            </a:lvl3pPr>
            <a:lvl4pPr marL="3239770" indent="0">
              <a:buNone/>
              <a:defRPr sz="4725"/>
            </a:lvl4pPr>
            <a:lvl5pPr marL="4319905" indent="0">
              <a:buNone/>
              <a:defRPr sz="4725"/>
            </a:lvl5pPr>
            <a:lvl6pPr marL="5400040" indent="0">
              <a:buNone/>
              <a:defRPr sz="4725"/>
            </a:lvl6pPr>
            <a:lvl7pPr marL="6480175" indent="0">
              <a:buNone/>
              <a:defRPr sz="4725"/>
            </a:lvl7pPr>
            <a:lvl8pPr marL="7560310" indent="0">
              <a:buNone/>
              <a:defRPr sz="4725"/>
            </a:lvl8pPr>
            <a:lvl9pPr marL="8639810" indent="0">
              <a:buNone/>
              <a:defRPr sz="4725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812" y="9720001"/>
            <a:ext cx="7379291" cy="1800750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4725"/>
            </a:lvl1pPr>
            <a:lvl2pPr marL="1080135" indent="0">
              <a:buNone/>
              <a:defRPr sz="3305"/>
            </a:lvl2pPr>
            <a:lvl3pPr marL="2160270" indent="0">
              <a:buNone/>
              <a:defRPr sz="2835"/>
            </a:lvl3pPr>
            <a:lvl4pPr marL="3239770" indent="0">
              <a:buNone/>
              <a:defRPr sz="2360"/>
            </a:lvl4pPr>
            <a:lvl5pPr marL="4319905" indent="0">
              <a:buNone/>
              <a:defRPr sz="2360"/>
            </a:lvl5pPr>
            <a:lvl6pPr marL="5400040" indent="0">
              <a:buNone/>
              <a:defRPr sz="2360"/>
            </a:lvl6pPr>
            <a:lvl7pPr marL="6480175" indent="0">
              <a:buNone/>
              <a:defRPr sz="2360"/>
            </a:lvl7pPr>
            <a:lvl8pPr marL="7560310" indent="0">
              <a:buNone/>
              <a:defRPr sz="2360"/>
            </a:lvl8pPr>
            <a:lvl9pPr marL="8639810" indent="0">
              <a:buNone/>
              <a:defRPr sz="236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7405581" y="1725000"/>
            <a:ext cx="2709418" cy="27457504"/>
          </a:xfrm>
        </p:spPr>
        <p:txBody>
          <a:bodyPr vert="eaVert">
            <a:normAutofit/>
          </a:bodyPr>
          <a:lstStyle>
            <a:lvl1pPr>
              <a:defRPr sz="10395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85000" y="1725000"/>
            <a:ext cx="15732208" cy="27457504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485000" y="2605715"/>
            <a:ext cx="18629999" cy="2626285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485000" y="1725000"/>
            <a:ext cx="18629999" cy="62625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85000" y="8625000"/>
            <a:ext cx="18629999" cy="20557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85000" y="30030002"/>
            <a:ext cx="4860000" cy="172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7155000" y="30030002"/>
            <a:ext cx="7290000" cy="172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5254999" y="30030002"/>
            <a:ext cx="4860000" cy="172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2160270" rtl="0" eaLnBrk="1" latinLnBrk="0" hangingPunct="1">
        <a:lnSpc>
          <a:spcPct val="90000"/>
        </a:lnSpc>
        <a:spcBef>
          <a:spcPct val="0"/>
        </a:spcBef>
        <a:buNone/>
        <a:defRPr sz="10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750" indent="-539750" algn="l" defTabSz="2160270" rtl="0" eaLnBrk="1" latinLnBrk="0" hangingPunct="1">
        <a:lnSpc>
          <a:spcPct val="90000"/>
        </a:lnSpc>
        <a:spcBef>
          <a:spcPts val="2365"/>
        </a:spcBef>
        <a:buFont typeface="Arial" panose="020B0604020202020204" pitchFamily="34" charset="0"/>
        <a:buChar char="•"/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1988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70002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78015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4pPr>
      <a:lvl5pPr marL="486029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5pPr>
      <a:lvl6pPr marL="593979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701992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8100060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9180195" indent="-539750" algn="l" defTabSz="2160270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1pPr>
      <a:lvl2pPr marL="108013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2pPr>
      <a:lvl3pPr marL="21602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3pPr>
      <a:lvl4pPr marL="323977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4pPr>
      <a:lvl5pPr marL="431990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4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6pPr>
      <a:lvl7pPr marL="6480175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7pPr>
      <a:lvl8pPr marL="756031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8pPr>
      <a:lvl9pPr marL="8639810" algn="l" defTabSz="2160270" rtl="0" eaLnBrk="1" latinLnBrk="0" hangingPunct="1">
        <a:defRPr sz="4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5FE54-C943-3BAD-22B9-CD356164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文本框 104">
            <a:extLst>
              <a:ext uri="{FF2B5EF4-FFF2-40B4-BE49-F238E27FC236}">
                <a16:creationId xmlns:a16="http://schemas.microsoft.com/office/drawing/2014/main" id="{413E2F4C-75C8-A7A5-430B-11CDFB7069C0}"/>
              </a:ext>
            </a:extLst>
          </p:cNvPr>
          <p:cNvSpPr txBox="1"/>
          <p:nvPr/>
        </p:nvSpPr>
        <p:spPr>
          <a:xfrm>
            <a:off x="2614850" y="10330371"/>
            <a:ext cx="17534607" cy="1117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7200" dirty="0">
                <a:latin typeface="Comic Sans MS" panose="030F0902030302020204" pitchFamily="66" charset="0"/>
              </a:rPr>
              <a:t>Note</a:t>
            </a:r>
            <a:r>
              <a:rPr lang="zh-CN" altLang="en-US" sz="7200" dirty="0">
                <a:latin typeface="Comic Sans MS" panose="030F0902030302020204" pitchFamily="66" charset="0"/>
              </a:rPr>
              <a:t> </a:t>
            </a:r>
            <a:r>
              <a:rPr lang="en-US" altLang="zh-CN" sz="7200" dirty="0">
                <a:latin typeface="Comic Sans MS" panose="030F0902030302020204" pitchFamily="66" charset="0"/>
              </a:rPr>
              <a:t>Before</a:t>
            </a:r>
            <a:r>
              <a:rPr lang="zh-CN" altLang="en-US" sz="7200" dirty="0">
                <a:latin typeface="Comic Sans MS" panose="030F0902030302020204" pitchFamily="66" charset="0"/>
              </a:rPr>
              <a:t> </a:t>
            </a:r>
            <a:r>
              <a:rPr lang="en-US" altLang="zh-CN" sz="7200" dirty="0">
                <a:latin typeface="Comic Sans MS" panose="030F0902030302020204" pitchFamily="66" charset="0"/>
              </a:rPr>
              <a:t>Template</a:t>
            </a:r>
            <a:r>
              <a:rPr lang="en" altLang="zh-CN" sz="7200" dirty="0">
                <a:latin typeface="Comic Sans MS" panose="030F0902030302020204" pitchFamily="66" charset="0"/>
              </a:rPr>
              <a:t>: </a:t>
            </a:r>
          </a:p>
          <a:p>
            <a:endParaRPr lang="en" altLang="zh-CN" sz="7200" dirty="0">
              <a:latin typeface="Comic Sans MS" panose="030F0902030302020204" pitchFamily="66" charset="0"/>
            </a:endParaRPr>
          </a:p>
          <a:p>
            <a:r>
              <a:rPr lang="en" altLang="zh-CN" sz="7200" dirty="0">
                <a:latin typeface="Comic Sans MS" panose="030F0902030302020204" pitchFamily="66" charset="0"/>
              </a:rPr>
              <a:t>	This template is provided as a reference guide; we strongly encourage you to unleash your creativity and design a unique poster that best showcases your project.</a:t>
            </a:r>
          </a:p>
          <a:p>
            <a:endParaRPr lang="en" altLang="zh-CN" sz="7200" dirty="0">
              <a:latin typeface="Comic Sans MS" panose="030F0902030302020204" pitchFamily="66" charset="0"/>
            </a:endParaRPr>
          </a:p>
          <a:p>
            <a:r>
              <a:rPr lang="en-US" altLang="zh-CN" sz="7200" dirty="0">
                <a:latin typeface="Comic Sans MS" panose="030F0902030302020204" pitchFamily="66" charset="0"/>
              </a:rPr>
              <a:t>(Delete this page when using this template.)</a:t>
            </a:r>
            <a:endParaRPr lang="zh-CN" altLang="en-US" sz="7200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197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7C83A7-FC5E-77F7-D803-CFF87970E4A3}"/>
              </a:ext>
            </a:extLst>
          </p:cNvPr>
          <p:cNvSpPr txBox="1"/>
          <p:nvPr/>
        </p:nvSpPr>
        <p:spPr>
          <a:xfrm rot="19558071">
            <a:off x="1351489" y="15121539"/>
            <a:ext cx="1802128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9900" dirty="0">
                <a:solidFill>
                  <a:srgbClr val="000000">
                    <a:alpha val="11000"/>
                  </a:srgbClr>
                </a:solidFill>
              </a:rPr>
              <a:t>CityU-DG</a:t>
            </a:r>
            <a:r>
              <a:rPr kumimoji="1" lang="zh-CN" altLang="en-US" sz="19900" dirty="0">
                <a:solidFill>
                  <a:srgbClr val="000000">
                    <a:alpha val="11000"/>
                  </a:srgbClr>
                </a:solidFill>
              </a:rPr>
              <a:t> </a:t>
            </a:r>
            <a:r>
              <a:rPr kumimoji="1" lang="en-US" altLang="zh-CN" sz="19900" dirty="0">
                <a:solidFill>
                  <a:srgbClr val="000000">
                    <a:alpha val="11000"/>
                  </a:srgbClr>
                </a:solidFill>
              </a:rPr>
              <a:t>CS5351</a:t>
            </a:r>
            <a:endParaRPr kumimoji="1" lang="zh-CN" altLang="en-US" sz="19900" dirty="0">
              <a:solidFill>
                <a:srgbClr val="000000">
                  <a:alpha val="11000"/>
                </a:srgbClr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A17997-891F-00B1-ACB7-1762CA590546}"/>
              </a:ext>
            </a:extLst>
          </p:cNvPr>
          <p:cNvSpPr/>
          <p:nvPr/>
        </p:nvSpPr>
        <p:spPr>
          <a:xfrm>
            <a:off x="685801" y="9307284"/>
            <a:ext cx="4669971" cy="2057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DDFD80-861E-70F8-166F-6335ADA21693}"/>
              </a:ext>
            </a:extLst>
          </p:cNvPr>
          <p:cNvSpPr/>
          <p:nvPr/>
        </p:nvSpPr>
        <p:spPr>
          <a:xfrm>
            <a:off x="10504715" y="9753598"/>
            <a:ext cx="4669971" cy="2057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BC2E06-AE53-FE30-EA52-E54D2DA9A752}"/>
              </a:ext>
            </a:extLst>
          </p:cNvPr>
          <p:cNvSpPr/>
          <p:nvPr/>
        </p:nvSpPr>
        <p:spPr>
          <a:xfrm>
            <a:off x="402772" y="16861970"/>
            <a:ext cx="4669971" cy="2057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063F01A-354F-64A8-4E75-4E8366529AE3}"/>
              </a:ext>
            </a:extLst>
          </p:cNvPr>
          <p:cNvSpPr txBox="1"/>
          <p:nvPr/>
        </p:nvSpPr>
        <p:spPr>
          <a:xfrm>
            <a:off x="3741094" y="1559963"/>
            <a:ext cx="141173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9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Project Title</a:t>
            </a:r>
            <a:endParaRPr kumimoji="1" lang="zh-CN" altLang="en-US" sz="96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BECD613D-7AA6-5CEB-46A4-7EB57ED2C08E}"/>
              </a:ext>
            </a:extLst>
          </p:cNvPr>
          <p:cNvCxnSpPr/>
          <p:nvPr/>
        </p:nvCxnSpPr>
        <p:spPr>
          <a:xfrm>
            <a:off x="1807018" y="4722249"/>
            <a:ext cx="17759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26801C96-56C1-D6AE-CD8D-CCBC04418299}"/>
              </a:ext>
            </a:extLst>
          </p:cNvPr>
          <p:cNvSpPr txBox="1"/>
          <p:nvPr/>
        </p:nvSpPr>
        <p:spPr>
          <a:xfrm>
            <a:off x="2999857" y="3405674"/>
            <a:ext cx="15750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Group</a:t>
            </a:r>
            <a:r>
              <a:rPr lang="zh-CN" altLang="en-US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zh-CN" altLang="en-US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Logo</a:t>
            </a:r>
            <a:r>
              <a:rPr lang="zh-CN" altLang="en-US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Group</a:t>
            </a:r>
            <a:r>
              <a:rPr lang="zh-CN" altLang="en-US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Member</a:t>
            </a:r>
            <a:r>
              <a:rPr lang="zh-CN" altLang="en-US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Name</a:t>
            </a:r>
            <a:endParaRPr kumimoji="1" lang="zh-CN" altLang="en-US" sz="48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CF109DE-5A6D-691B-C987-9BC66DD550E7}"/>
              </a:ext>
            </a:extLst>
          </p:cNvPr>
          <p:cNvSpPr txBox="1"/>
          <p:nvPr/>
        </p:nvSpPr>
        <p:spPr>
          <a:xfrm>
            <a:off x="3275228" y="5001401"/>
            <a:ext cx="4319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Motivation</a:t>
            </a:r>
            <a:r>
              <a:rPr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1" lang="zh-CN" altLang="en-US" sz="48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0" name="直线连接符 89">
            <a:extLst>
              <a:ext uri="{FF2B5EF4-FFF2-40B4-BE49-F238E27FC236}">
                <a16:creationId xmlns:a16="http://schemas.microsoft.com/office/drawing/2014/main" id="{3F3A988A-3DBC-ED00-6609-13053CA19320}"/>
              </a:ext>
            </a:extLst>
          </p:cNvPr>
          <p:cNvCxnSpPr>
            <a:cxnSpLocks/>
          </p:cNvCxnSpPr>
          <p:nvPr/>
        </p:nvCxnSpPr>
        <p:spPr>
          <a:xfrm>
            <a:off x="10686823" y="5199042"/>
            <a:ext cx="0" cy="61018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9A956D2E-1618-DF66-AC60-CAF73C1AE29E}"/>
              </a:ext>
            </a:extLst>
          </p:cNvPr>
          <p:cNvSpPr txBox="1"/>
          <p:nvPr/>
        </p:nvSpPr>
        <p:spPr>
          <a:xfrm>
            <a:off x="12776197" y="5001401"/>
            <a:ext cx="4319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Innovation</a:t>
            </a:r>
            <a:endParaRPr kumimoji="1" lang="zh-CN" altLang="en-US" sz="48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E541CBF4-BAB6-D6F6-5BA4-6C489E344880}"/>
              </a:ext>
            </a:extLst>
          </p:cNvPr>
          <p:cNvCxnSpPr/>
          <p:nvPr/>
        </p:nvCxnSpPr>
        <p:spPr>
          <a:xfrm>
            <a:off x="1919951" y="11893855"/>
            <a:ext cx="17759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EE0C2247-B720-EEEE-5D15-0BF7BB59E4C2}"/>
              </a:ext>
            </a:extLst>
          </p:cNvPr>
          <p:cNvSpPr txBox="1"/>
          <p:nvPr/>
        </p:nvSpPr>
        <p:spPr>
          <a:xfrm>
            <a:off x="3275231" y="12194724"/>
            <a:ext cx="14173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System Architecture &amp; Technical Design</a:t>
            </a:r>
            <a:endParaRPr kumimoji="1" lang="zh-CN" altLang="en-US" sz="48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4" name="直线连接符 93">
            <a:extLst>
              <a:ext uri="{FF2B5EF4-FFF2-40B4-BE49-F238E27FC236}">
                <a16:creationId xmlns:a16="http://schemas.microsoft.com/office/drawing/2014/main" id="{AE004984-313C-7177-87E5-DC700670F953}"/>
              </a:ext>
            </a:extLst>
          </p:cNvPr>
          <p:cNvCxnSpPr/>
          <p:nvPr/>
        </p:nvCxnSpPr>
        <p:spPr>
          <a:xfrm>
            <a:off x="1807018" y="21250077"/>
            <a:ext cx="17759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线连接符 94">
            <a:extLst>
              <a:ext uri="{FF2B5EF4-FFF2-40B4-BE49-F238E27FC236}">
                <a16:creationId xmlns:a16="http://schemas.microsoft.com/office/drawing/2014/main" id="{3805CC0D-8FB8-8EF9-BFB6-853A35E62CCB}"/>
              </a:ext>
            </a:extLst>
          </p:cNvPr>
          <p:cNvCxnSpPr/>
          <p:nvPr/>
        </p:nvCxnSpPr>
        <p:spPr>
          <a:xfrm>
            <a:off x="1919958" y="26462946"/>
            <a:ext cx="177596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71BF0229-965F-3341-B918-06EBD1E5B6C7}"/>
              </a:ext>
            </a:extLst>
          </p:cNvPr>
          <p:cNvSpPr txBox="1"/>
          <p:nvPr/>
        </p:nvSpPr>
        <p:spPr>
          <a:xfrm>
            <a:off x="3275231" y="21705272"/>
            <a:ext cx="14173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Software Process &amp; Management</a:t>
            </a:r>
            <a:endParaRPr kumimoji="1" lang="zh-CN" altLang="en-US" sz="48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A112B4F-4DB1-5326-4582-5BF9B98B174C}"/>
              </a:ext>
            </a:extLst>
          </p:cNvPr>
          <p:cNvSpPr txBox="1"/>
          <p:nvPr/>
        </p:nvSpPr>
        <p:spPr>
          <a:xfrm>
            <a:off x="3741094" y="26766345"/>
            <a:ext cx="14173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Conclusion</a:t>
            </a:r>
            <a:r>
              <a:rPr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Demo</a:t>
            </a:r>
            <a:r>
              <a:rPr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Presentation</a:t>
            </a:r>
            <a:endParaRPr kumimoji="1" lang="zh-CN" altLang="en-US" sz="4800" b="1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2AE1C828-C13D-C8BF-D11E-CB9B1322F3E5}"/>
              </a:ext>
            </a:extLst>
          </p:cNvPr>
          <p:cNvSpPr txBox="1"/>
          <p:nvPr/>
        </p:nvSpPr>
        <p:spPr>
          <a:xfrm>
            <a:off x="1208321" y="6073615"/>
            <a:ext cx="89559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What is the problem?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Background: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Briefly describe the specific software development task you are targeting.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Pain Points: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Why are existing tools inadequate? (e.g., too slow, hard to use, inaccurate) 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Goal: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Define the gap your tool fills.</a:t>
            </a:r>
          </a:p>
          <a:p>
            <a:endParaRPr kumimoji="1" lang="zh-CN" altLang="en-US" sz="3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FF7599F-F6C7-5BDF-8FB6-A161F917141C}"/>
              </a:ext>
            </a:extLst>
          </p:cNvPr>
          <p:cNvSpPr txBox="1"/>
          <p:nvPr/>
        </p:nvSpPr>
        <p:spPr>
          <a:xfrm>
            <a:off x="11209343" y="6381657"/>
            <a:ext cx="89559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What is your Key Solution/Idea?</a:t>
            </a:r>
            <a:endParaRPr lang="en" altLang="zh-CN" sz="36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Novelty: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Explicitly state your creative contribution. Is it a new algorithm, a new plugin, or a better workflow?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Differentiation: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How does it differ from the "Related Work" or standard open-source tools?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A98EA85-5A20-116E-3D11-149E4BD2749B}"/>
              </a:ext>
            </a:extLst>
          </p:cNvPr>
          <p:cNvSpPr txBox="1"/>
          <p:nvPr/>
        </p:nvSpPr>
        <p:spPr>
          <a:xfrm>
            <a:off x="2789635" y="13746604"/>
            <a:ext cx="161707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How does it work?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Overview Diagram: 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Insert a high-level system architecture diagram here (Mandatory).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Technical Details: 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Highlight key algorithms, data flows, or design patterns used.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Addressing NFRs: 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Briefly explain how your design choices (e.g., Microservices) address Non-Functional Requirements (e.g., Scalability, Security).</a:t>
            </a:r>
          </a:p>
          <a:p>
            <a:pPr algn="ctr"/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(Tip: The diagram should be the visual center of your poster.)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8126E480-5DD4-D9F2-A625-6CF8539DB530}"/>
              </a:ext>
            </a:extLst>
          </p:cNvPr>
          <p:cNvSpPr txBox="1"/>
          <p:nvPr/>
        </p:nvSpPr>
        <p:spPr>
          <a:xfrm>
            <a:off x="2789635" y="22625184"/>
            <a:ext cx="161707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Sprint Summary: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Briefly list the key deliverables for Sprint 1, 2, and 3 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Burndown Chart: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Insert your project's Burndown Chart here. (Mandatory) 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Collaboration: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Mention tools used (Jira, GitHub) or how you managed technical debt.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2F4777E-4C1C-1A5F-A87F-F8222AF3300E}"/>
              </a:ext>
            </a:extLst>
          </p:cNvPr>
          <p:cNvSpPr txBox="1"/>
          <p:nvPr/>
        </p:nvSpPr>
        <p:spPr>
          <a:xfrm>
            <a:off x="2714397" y="27663939"/>
            <a:ext cx="161707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Evaluation &amp; Deliverables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Results: 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Did you solve the problem? Show a chart/graph of your evaluation results (e.g., performance comparison, user testing).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Demo: 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[Scan QR Code for Video/GitHub].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altLang="zh-CN" sz="36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Conclusion: </a:t>
            </a:r>
            <a:r>
              <a:rPr lang="en" altLang="zh-CN" sz="36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One sentence summary of impact + Future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2614</TotalTime>
  <Words>346</Words>
  <Application>Microsoft Macintosh PowerPoint</Application>
  <PresentationFormat>自定义</PresentationFormat>
  <Paragraphs>34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宋体</vt:lpstr>
      <vt:lpstr>Microsoft YaHei</vt:lpstr>
      <vt:lpstr>Arial</vt:lpstr>
      <vt:lpstr>Calibri</vt:lpstr>
      <vt:lpstr>Comic Sans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yangjunpeng</dc:creator>
  <cp:lastModifiedBy>Zongxian Yang</cp:lastModifiedBy>
  <cp:revision>53</cp:revision>
  <dcterms:created xsi:type="dcterms:W3CDTF">2025-03-11T07:33:42Z</dcterms:created>
  <dcterms:modified xsi:type="dcterms:W3CDTF">2025-11-26T05:25:34Z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2052-6.14.0.8924</vt:lpwstr>
  </property>
  <property fmtid="{D5CDD505-2E9C-101B-9397-08002B2CF9AE}" pid="3" name="ICV">
    <vt:lpwstr>0FD10A2F17D7E88DF9E1CF6761FFB528_41</vt:lpwstr>
  </property>
</Properties>
</file>